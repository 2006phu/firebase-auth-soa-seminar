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731520"/>
            <a:ext cx="10332720" cy="457200"/>
          </a:xfrm>
          <a:prstGeom prst="rect">
            <a:avLst/>
          </a:prstGeom>
          <a:noFill/>
        </p:spPr>
        <p:txBody>
          <a:bodyPr wrap="none">
            <a:spAutoFit/>
          </a:bodyPr>
          <a:lstStyle/>
          <a:p>
            <a:pPr>
              <a:defRPr sz="1300" b="1">
                <a:solidFill>
                  <a:srgbClr val="0EA5E9"/>
                </a:solidFill>
              </a:defRPr>
            </a:pPr>
            <a:r>
              <a:t>TDTU • KHOA CÔNG NGHỆ THÔNG TIN • BÁO CÁO SEMINAR SOA</a:t>
            </a:r>
          </a:p>
        </p:txBody>
      </p:sp>
      <p:sp>
        <p:nvSpPr>
          <p:cNvPr id="3" name="TextBox 2"/>
          <p:cNvSpPr txBox="1"/>
          <p:nvPr/>
        </p:nvSpPr>
        <p:spPr>
          <a:xfrm>
            <a:off x="914400" y="1645920"/>
            <a:ext cx="10332720" cy="2286000"/>
          </a:xfrm>
          <a:prstGeom prst="rect">
            <a:avLst/>
          </a:prstGeom>
          <a:noFill/>
        </p:spPr>
        <p:txBody>
          <a:bodyPr wrap="square">
            <a:spAutoFit/>
          </a:bodyPr>
          <a:lstStyle/>
          <a:p>
            <a:pPr>
              <a:defRPr sz="4400" b="1">
                <a:solidFill>
                  <a:srgbClr val="1E293B"/>
                </a:solidFill>
              </a:defRPr>
            </a:pPr>
            <a:r>
              <a:t>Firebase Auth</a:t>
            </a:r>
            <a:br/>
            <a:r>
              <a:t>with Microservices</a:t>
            </a:r>
            <a:br/>
            <a:r>
              <a:t>&amp; Stateless JWT</a:t>
            </a:r>
          </a:p>
        </p:txBody>
      </p:sp>
      <p:sp>
        <p:nvSpPr>
          <p:cNvPr id="4" name="TextBox 3"/>
          <p:cNvSpPr txBox="1"/>
          <p:nvPr/>
        </p:nvSpPr>
        <p:spPr>
          <a:xfrm>
            <a:off x="914400" y="4754880"/>
            <a:ext cx="10332720" cy="1371600"/>
          </a:xfrm>
          <a:prstGeom prst="rect">
            <a:avLst/>
          </a:prstGeom>
          <a:noFill/>
        </p:spPr>
        <p:txBody>
          <a:bodyPr wrap="none">
            <a:spAutoFit/>
          </a:bodyPr>
          <a:lstStyle/>
          <a:p>
            <a:pPr>
              <a:defRPr sz="1600">
                <a:solidFill>
                  <a:srgbClr val="475569"/>
                </a:solidFill>
              </a:defRPr>
            </a:pPr>
            <a:r>
              <a:t>Triển khai Identity Provider và Xác thực Token Đa Nền tảng (Spring Boot • FastAPI • NodeJS)</a:t>
            </a:r>
          </a:p>
          <a:p>
            <a:pPr>
              <a:spcBef>
                <a:spcPts val="1400"/>
              </a:spcBef>
              <a:defRPr sz="1600" b="1">
                <a:solidFill>
                  <a:srgbClr val="F97316"/>
                </a:solidFill>
              </a:defRPr>
            </a:pPr>
            <a:r>
              <a:t>Nhóm thuyết trình Seminar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638190" y="914400"/>
            <a:ext cx="914400" cy="914400"/>
          </a:xfrm>
          <a:prstGeom prst="ellipse">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3" name="TextBox 2"/>
          <p:cNvSpPr txBox="1"/>
          <p:nvPr/>
        </p:nvSpPr>
        <p:spPr>
          <a:xfrm>
            <a:off x="1371600" y="2103120"/>
            <a:ext cx="9448495" cy="914400"/>
          </a:xfrm>
          <a:prstGeom prst="rect">
            <a:avLst/>
          </a:prstGeom>
          <a:noFill/>
        </p:spPr>
        <p:txBody>
          <a:bodyPr wrap="none">
            <a:spAutoFit/>
          </a:bodyPr>
          <a:lstStyle/>
          <a:p>
            <a:pPr algn="ctr">
              <a:defRPr sz="3600" b="1">
                <a:solidFill>
                  <a:srgbClr val="1E293B"/>
                </a:solidFill>
              </a:defRPr>
            </a:pPr>
            <a:r>
              <a:t>Khâu xác thực Microservices thô sơ?</a:t>
            </a:r>
          </a:p>
        </p:txBody>
      </p:sp>
      <p:sp>
        <p:nvSpPr>
          <p:cNvPr id="4" name="TextBox 3"/>
          <p:cNvSpPr txBox="1"/>
          <p:nvPr/>
        </p:nvSpPr>
        <p:spPr>
          <a:xfrm>
            <a:off x="2011680" y="3200400"/>
            <a:ext cx="8168335" cy="2926080"/>
          </a:xfrm>
          <a:prstGeom prst="rect">
            <a:avLst/>
          </a:prstGeom>
          <a:noFill/>
        </p:spPr>
        <p:txBody>
          <a:bodyPr wrap="square">
            <a:spAutoFit/>
          </a:bodyPr>
          <a:lstStyle/>
          <a:p>
            <a:pPr algn="ctr">
              <a:spcAft>
                <a:spcPts val="2000"/>
              </a:spcAft>
              <a:defRPr sz="1800">
                <a:solidFill>
                  <a:srgbClr val="475569"/>
                </a:solidFill>
              </a:defRPr>
            </a:pPr>
            <a:r>
              <a:t>Kiểm thử và xác thực thủ công là một ý tưởng tệ hại khi hệ thống có hàng chục microservices. Việc quản lý session lưu trên RAM từng server hay tự băm mật khẩu trong database ngốn rất nhiều thời gian và tiềm ẩn lỗ hổng bảo mật nghiêm trọng.</a:t>
            </a:r>
          </a:p>
          <a:p>
            <a:pPr algn="ctr">
              <a:defRPr sz="1800">
                <a:solidFill>
                  <a:srgbClr val="475569"/>
                </a:solidFill>
              </a:defRPr>
            </a:pPr>
            <a:r>
              <a:t>Chưa kể việc thiếu tính tự động hóa và chuẩn Stateless Token cũng gây khó dễ cho việc mở rộng hệ thống (scale ngang) và kết nối an toàn đa nền tảng (Web, Mobile, External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2437790" y="914400"/>
            <a:ext cx="7315200" cy="502920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638190" y="1463040"/>
            <a:ext cx="914400" cy="914400"/>
          </a:xfrm>
          <a:prstGeom prst="ellipse">
            <a:avLst/>
          </a:prstGeom>
          <a:solidFill>
            <a:srgbClr val="F97316"/>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4" name="TextBox 3"/>
          <p:cNvSpPr txBox="1"/>
          <p:nvPr/>
        </p:nvSpPr>
        <p:spPr>
          <a:xfrm>
            <a:off x="2743200" y="2651760"/>
            <a:ext cx="6705295" cy="2926080"/>
          </a:xfrm>
          <a:prstGeom prst="rect">
            <a:avLst/>
          </a:prstGeom>
          <a:noFill/>
        </p:spPr>
        <p:txBody>
          <a:bodyPr wrap="none">
            <a:spAutoFit/>
          </a:bodyPr>
          <a:lstStyle/>
          <a:p>
            <a:pPr algn="ctr">
              <a:spcAft>
                <a:spcPts val="2000"/>
              </a:spcAft>
              <a:defRPr sz="4000" b="1">
                <a:solidFill>
                  <a:srgbClr val="1E293B"/>
                </a:solidFill>
              </a:defRPr>
            </a:pPr>
            <a:r>
              <a:t>Giải pháp</a:t>
            </a:r>
          </a:p>
          <a:p>
            <a:pPr algn="ctr">
              <a:spcAft>
                <a:spcPts val="1000"/>
              </a:spcAft>
              <a:defRPr sz="2000" b="1">
                <a:solidFill>
                  <a:srgbClr val="F97316"/>
                </a:solidFill>
              </a:defRPr>
            </a:pPr>
            <a:r>
              <a:t>IDENTITY-AS-A-SERVICE (IDaaS)</a:t>
            </a:r>
          </a:p>
          <a:p>
            <a:pPr algn="ctr">
              <a:spcAft>
                <a:spcPts val="800"/>
              </a:spcAft>
              <a:defRPr sz="1800">
                <a:solidFill>
                  <a:srgbClr val="1E293B"/>
                </a:solidFill>
              </a:defRPr>
            </a:pPr>
            <a:r>
              <a:t>Firebase Authentication • Google Cloud</a:t>
            </a:r>
          </a:p>
          <a:p>
            <a:pPr algn="ctr">
              <a:defRPr sz="1700">
                <a:solidFill>
                  <a:srgbClr val="475569"/>
                </a:solidFill>
              </a:defRPr>
            </a:pPr>
            <a:r>
              <a:t>Stateless RS256 JWT Token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10332720" cy="731520"/>
          </a:xfrm>
          <a:prstGeom prst="rect">
            <a:avLst/>
          </a:prstGeom>
          <a:noFill/>
        </p:spPr>
        <p:txBody>
          <a:bodyPr wrap="none">
            <a:spAutoFit/>
          </a:bodyPr>
          <a:lstStyle/>
          <a:p>
            <a:pPr>
              <a:defRPr sz="3200" b="1">
                <a:solidFill>
                  <a:srgbClr val="F97316"/>
                </a:solidFill>
              </a:defRPr>
            </a:pPr>
            <a:r>
              <a:t>IDENTITY PROVIDER &amp; CLIENT SDK</a:t>
            </a:r>
          </a:p>
        </p:txBody>
      </p:sp>
      <p:sp>
        <p:nvSpPr>
          <p:cNvPr id="3" name="TextBox 2"/>
          <p:cNvSpPr txBox="1"/>
          <p:nvPr/>
        </p:nvSpPr>
        <p:spPr>
          <a:xfrm>
            <a:off x="914400" y="1371600"/>
            <a:ext cx="10332720" cy="1097280"/>
          </a:xfrm>
          <a:prstGeom prst="rect">
            <a:avLst/>
          </a:prstGeom>
          <a:noFill/>
        </p:spPr>
        <p:txBody>
          <a:bodyPr wrap="square">
            <a:spAutoFit/>
          </a:bodyPr>
          <a:lstStyle/>
          <a:p>
            <a:pPr>
              <a:defRPr sz="1600">
                <a:solidFill>
                  <a:srgbClr val="1E293B"/>
                </a:solidFill>
              </a:defRPr>
            </a:pPr>
            <a:r>
              <a:t>- Là mô hình tách biệt hoàn toàn việc quản lý danh tính người dùng (Identity) ra khỏi logic nghiệp vụ (Business Logic) của các dịch vụ trong kiến trúc hướng dịch vụ SOA.</a:t>
            </a:r>
          </a:p>
          <a:p>
            <a:pPr>
              <a:spcBef>
                <a:spcPts val="800"/>
              </a:spcBef>
              <a:defRPr sz="1500">
                <a:solidFill>
                  <a:srgbClr val="475569"/>
                </a:solidFill>
              </a:defRPr>
            </a:pPr>
            <a:r>
              <a:t>Vai trò cốt lõi:</a:t>
            </a:r>
            <a:br/>
            <a:r>
              <a:t>• Ủy quyền bảo mật cho Google Cloud (Mật khẩu, chống brute-force, OAuth Google/Email).</a:t>
            </a:r>
            <a:br/>
            <a:r>
              <a:t>• Cấp phát vé số định danh duy nhất (Firebase ID Token) dùng chung cho toàn bộ hệ thống.</a:t>
            </a:r>
          </a:p>
        </p:txBody>
      </p:sp>
      <p:sp>
        <p:nvSpPr>
          <p:cNvPr id="4" name="Rounded Rectangle 3"/>
          <p:cNvSpPr/>
          <p:nvPr/>
        </p:nvSpPr>
        <p:spPr>
          <a:xfrm>
            <a:off x="914400" y="3840480"/>
            <a:ext cx="3200400" cy="219456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0EA5E9"/>
                </a:solidFill>
              </a:defRPr>
            </a:pPr>
            <a:r>
              <a:t>01 Đăng nhập</a:t>
            </a:r>
          </a:p>
          <a:p>
            <a:pPr>
              <a:spcAft>
                <a:spcPts val="800"/>
              </a:spcAft>
              <a:defRPr sz="1400" b="1">
                <a:solidFill>
                  <a:srgbClr val="1E293B"/>
                </a:solidFill>
              </a:defRPr>
            </a:pPr>
            <a:r>
              <a:t>Giao diện React Client</a:t>
            </a:r>
          </a:p>
          <a:p>
            <a:pPr>
              <a:defRPr sz="1300">
                <a:solidFill>
                  <a:srgbClr val="475569"/>
                </a:solidFill>
              </a:defRPr>
            </a:pPr>
            <a:r>
              <a:t>User nhập email/pass hoặc chọn Google OAuth</a:t>
            </a:r>
          </a:p>
        </p:txBody>
      </p:sp>
      <p:sp>
        <p:nvSpPr>
          <p:cNvPr id="5" name="Rounded Rectangle 4"/>
          <p:cNvSpPr/>
          <p:nvPr/>
        </p:nvSpPr>
        <p:spPr>
          <a:xfrm>
            <a:off x="4480560" y="3840480"/>
            <a:ext cx="3200400" cy="219456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F97316"/>
                </a:solidFill>
              </a:defRPr>
            </a:pPr>
            <a:r>
              <a:t>02 Google Auth</a:t>
            </a:r>
          </a:p>
          <a:p>
            <a:pPr>
              <a:spcAft>
                <a:spcPts val="800"/>
              </a:spcAft>
              <a:defRPr sz="1400" b="1">
                <a:solidFill>
                  <a:srgbClr val="1E293B"/>
                </a:solidFill>
              </a:defRPr>
            </a:pPr>
            <a:r>
              <a:t>Google Identity Platform</a:t>
            </a:r>
          </a:p>
          <a:p>
            <a:pPr>
              <a:defRPr sz="1300">
                <a:solidFill>
                  <a:srgbClr val="475569"/>
                </a:solidFill>
              </a:defRPr>
            </a:pPr>
            <a:r>
              <a:t>Google kiểm tra danh tính và ký số RS256</a:t>
            </a:r>
          </a:p>
        </p:txBody>
      </p:sp>
      <p:sp>
        <p:nvSpPr>
          <p:cNvPr id="6" name="Rounded Rectangle 5"/>
          <p:cNvSpPr/>
          <p:nvPr/>
        </p:nvSpPr>
        <p:spPr>
          <a:xfrm>
            <a:off x="8046720" y="3840480"/>
            <a:ext cx="3200400" cy="219456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800" b="1">
                <a:solidFill>
                  <a:srgbClr val="22C55E"/>
                </a:solidFill>
              </a:defRPr>
            </a:pPr>
            <a:r>
              <a:t>03 Nhận ID Token</a:t>
            </a:r>
          </a:p>
          <a:p>
            <a:pPr>
              <a:spcAft>
                <a:spcPts val="800"/>
              </a:spcAft>
              <a:defRPr sz="1400" b="1">
                <a:solidFill>
                  <a:srgbClr val="1E293B"/>
                </a:solidFill>
              </a:defRPr>
            </a:pPr>
            <a:r>
              <a:t>Stateless JWT Token</a:t>
            </a:r>
          </a:p>
          <a:p>
            <a:pPr>
              <a:defRPr sz="1300">
                <a:solidFill>
                  <a:srgbClr val="475569"/>
                </a:solidFill>
              </a:defRPr>
            </a:pPr>
            <a:r>
              <a:t>Client lưu token RAM sống 1h gửi kèm request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10332720" cy="731520"/>
          </a:xfrm>
          <a:prstGeom prst="rect">
            <a:avLst/>
          </a:prstGeom>
          <a:noFill/>
        </p:spPr>
        <p:txBody>
          <a:bodyPr wrap="none">
            <a:spAutoFit/>
          </a:bodyPr>
          <a:lstStyle/>
          <a:p>
            <a:pPr>
              <a:defRPr sz="3200" b="1">
                <a:solidFill>
                  <a:srgbClr val="F97316"/>
                </a:solidFill>
              </a:defRPr>
            </a:pPr>
            <a:r>
              <a:t>STATELESS JWT &amp; CREDENTIALS</a:t>
            </a:r>
          </a:p>
        </p:txBody>
      </p:sp>
      <p:sp>
        <p:nvSpPr>
          <p:cNvPr id="3" name="TextBox 2"/>
          <p:cNvSpPr txBox="1"/>
          <p:nvPr/>
        </p:nvSpPr>
        <p:spPr>
          <a:xfrm>
            <a:off x="914400" y="1371600"/>
            <a:ext cx="10332720" cy="914400"/>
          </a:xfrm>
          <a:prstGeom prst="rect">
            <a:avLst/>
          </a:prstGeom>
          <a:noFill/>
        </p:spPr>
        <p:txBody>
          <a:bodyPr wrap="square">
            <a:spAutoFit/>
          </a:bodyPr>
          <a:lstStyle/>
          <a:p>
            <a:pPr>
              <a:defRPr sz="1600">
                <a:solidFill>
                  <a:srgbClr val="1E293B"/>
                </a:solidFill>
              </a:defRPr>
            </a:pPr>
            <a:r>
              <a:t>- Token JWT chứa sẵn thông tin định danh (User ID, Email, Expiry) được ký số bảo mật, giúp Microservices xác thực ngay lập tức mà không cần truy vấn Session Database.</a:t>
            </a:r>
            <a:br/>
            <a:r>
              <a:t>Nguyên lý ở đây là tách biệt cấu hình công khai (Client) ra khỏi khóa bí mật quản trị (Server).</a:t>
            </a:r>
          </a:p>
        </p:txBody>
      </p:sp>
      <p:sp>
        <p:nvSpPr>
          <p:cNvPr id="4" name="Rounded Rectangle 3"/>
          <p:cNvSpPr/>
          <p:nvPr/>
        </p:nvSpPr>
        <p:spPr>
          <a:xfrm>
            <a:off x="914400" y="2743200"/>
            <a:ext cx="4937760" cy="347472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800" b="1">
                <a:solidFill>
                  <a:srgbClr val="0EA5E9"/>
                </a:solidFill>
              </a:defRPr>
            </a:pPr>
            <a:r>
              <a:t>💻 Frontend Configuration (.env)</a:t>
            </a:r>
          </a:p>
          <a:p>
            <a:pPr>
              <a:lnSpc>
                <a:spcPct val="130000"/>
              </a:lnSpc>
              <a:defRPr sz="1500">
                <a:solidFill>
                  <a:srgbClr val="475569"/>
                </a:solidFill>
              </a:defRPr>
            </a:pPr>
            <a:r>
              <a:t>• apiKey, authDomain, projectId, appId</a:t>
            </a:r>
            <a:br/>
            <a:r>
              <a:t>• Dùng để khởi tạo Firebase Client SDK trên Web React</a:t>
            </a:r>
            <a:br/>
            <a:r>
              <a:t>• ĐẶC TÍNH: Là Public Key an toàn, được phép nhúng trên trình duyệt người dùng.</a:t>
            </a:r>
          </a:p>
        </p:txBody>
      </p:sp>
      <p:sp>
        <p:nvSpPr>
          <p:cNvPr id="5" name="Rounded Rectangle 4"/>
          <p:cNvSpPr/>
          <p:nvPr/>
        </p:nvSpPr>
        <p:spPr>
          <a:xfrm>
            <a:off x="6309360" y="2743200"/>
            <a:ext cx="4937760" cy="347472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800" b="1">
                <a:solidFill>
                  <a:srgbClr val="F97316"/>
                </a:solidFill>
              </a:defRPr>
            </a:pPr>
            <a:r>
              <a:t>🔑 Backend Private Key (serviceAccountKey.json)</a:t>
            </a:r>
          </a:p>
          <a:p>
            <a:pPr>
              <a:lnSpc>
                <a:spcPct val="130000"/>
              </a:lnSpc>
              <a:defRPr sz="1500">
                <a:solidFill>
                  <a:srgbClr val="475569"/>
                </a:solidFill>
              </a:defRPr>
            </a:pPr>
            <a:r>
              <a:t>• private_key, client_email, project_id</a:t>
            </a:r>
            <a:br/>
            <a:r>
              <a:t>• Cấp quyền Admin tối cao cho Spring Boot, FastAPI, NodeJS</a:t>
            </a:r>
            <a:br/>
            <a:r>
              <a:t>• BẢO MẬT: BẮT BUỘC giấu kín, thêm vào .gitignore, TUYỆT ĐỐI KHÔNG commit lên GitHub!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10332720" cy="731520"/>
          </a:xfrm>
          <a:prstGeom prst="rect">
            <a:avLst/>
          </a:prstGeom>
          <a:noFill/>
        </p:spPr>
        <p:txBody>
          <a:bodyPr wrap="none">
            <a:spAutoFit/>
          </a:bodyPr>
          <a:lstStyle/>
          <a:p>
            <a:pPr>
              <a:defRPr sz="3200" b="1">
                <a:solidFill>
                  <a:srgbClr val="F97316"/>
                </a:solidFill>
              </a:defRPr>
            </a:pPr>
            <a:r>
              <a:t>LOCAL JWT VERIFICATION (RS256)</a:t>
            </a:r>
          </a:p>
        </p:txBody>
      </p:sp>
      <p:sp>
        <p:nvSpPr>
          <p:cNvPr id="3" name="TextBox 2"/>
          <p:cNvSpPr txBox="1"/>
          <p:nvPr/>
        </p:nvSpPr>
        <p:spPr>
          <a:xfrm>
            <a:off x="914400" y="1645920"/>
            <a:ext cx="4846320" cy="4572000"/>
          </a:xfrm>
          <a:prstGeom prst="rect">
            <a:avLst/>
          </a:prstGeom>
          <a:noFill/>
        </p:spPr>
        <p:txBody>
          <a:bodyPr wrap="square">
            <a:spAutoFit/>
          </a:bodyPr>
          <a:lstStyle/>
          <a:p>
            <a:pPr>
              <a:spcAft>
                <a:spcPts val="1000"/>
              </a:spcAft>
              <a:defRPr sz="1700" b="1">
                <a:solidFill>
                  <a:srgbClr val="1E293B"/>
                </a:solidFill>
              </a:defRPr>
            </a:pPr>
            <a:r>
              <a:t>Cơ chế xác thực cục bộ không gọi mạng (Zero Network Latency):</a:t>
            </a:r>
          </a:p>
          <a:p>
            <a:pPr>
              <a:lnSpc>
                <a:spcPct val="120000"/>
              </a:lnSpc>
              <a:defRPr sz="1500">
                <a:solidFill>
                  <a:srgbClr val="475569"/>
                </a:solidFill>
              </a:defRPr>
            </a:pPr>
            <a:r>
              <a:t>• Google ký Token bằng Private Key bí mật (RS256).</a:t>
            </a:r>
            <a:br/>
            <a:br/>
            <a:r>
              <a:t>• Google công khai chùm Public Keys (JWKS) trên Internet.</a:t>
            </a:r>
            <a:br/>
            <a:br/>
            <a:r>
              <a:t>• Backend Admin SDK tự động tải và cache Public Keys trong RAM.</a:t>
            </a:r>
            <a:br/>
            <a:br/>
            <a:r>
              <a:t>• Khi có request đến, Backend giải mã toán học RSA ngay trong RAM trong &lt; 1ms, hoàn toàn Offline, không phụ thuộc mạng.</a:t>
            </a:r>
          </a:p>
        </p:txBody>
      </p:sp>
      <p:sp>
        <p:nvSpPr>
          <p:cNvPr id="4" name="Rounded Rectangle 3"/>
          <p:cNvSpPr/>
          <p:nvPr/>
        </p:nvSpPr>
        <p:spPr>
          <a:xfrm>
            <a:off x="6035040" y="1645920"/>
            <a:ext cx="5212080" cy="43891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217920" y="1828800"/>
            <a:ext cx="164592" cy="16459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446520" y="1828800"/>
            <a:ext cx="164592" cy="164592"/>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675120" y="1828800"/>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0" y="2103120"/>
            <a:ext cx="4846320" cy="3657600"/>
          </a:xfrm>
          <a:prstGeom prst="rect">
            <a:avLst/>
          </a:prstGeom>
          <a:noFill/>
        </p:spPr>
        <p:txBody>
          <a:bodyPr wrap="square">
            <a:spAutoFit/>
          </a:bodyPr>
          <a:lstStyle/>
          <a:p>
            <a:pPr>
              <a:defRPr sz="1300">
                <a:solidFill>
                  <a:srgbClr val="38BDF8"/>
                </a:solidFill>
                <a:latin typeface="Consolas"/>
              </a:defRPr>
            </a:pPr>
            <a:r>
              <a:t>// 1. Trích xuất Bearer Token từ Header</a:t>
            </a:r>
            <a:br/>
            <a:r>
              <a:t>String token = request.getHeader("Authorization")</a:t>
            </a:r>
            <a:br/>
            <a:r>
              <a:t>                      .replace("Bearer ", "");</a:t>
            </a:r>
            <a:br/>
            <a:br/>
            <a:r>
              <a:t>// 2. Verify chữ ký RSA qua Google Public Keys</a:t>
            </a:r>
            <a:br/>
            <a:r>
              <a:t>FirebaseToken decoded = FirebaseAuth.getInstance()</a:t>
            </a:r>
            <a:br/>
            <a:r>
              <a:t>                                   .verifyIdToken(token);</a:t>
            </a:r>
            <a:br/>
            <a:br/>
            <a:r>
              <a:t>// 3. Tiêm định danh vào Spring Security</a:t>
            </a:r>
            <a:br/>
            <a:r>
              <a:t>SecurityContextHolder.getContext()</a:t>
            </a:r>
            <a:br/>
            <a:r>
              <a:t>  .setAuthentication(new AuthToken(decoded));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548640"/>
            <a:ext cx="10332720" cy="731520"/>
          </a:xfrm>
          <a:prstGeom prst="rect">
            <a:avLst/>
          </a:prstGeom>
          <a:noFill/>
        </p:spPr>
        <p:txBody>
          <a:bodyPr wrap="none">
            <a:spAutoFit/>
          </a:bodyPr>
          <a:lstStyle/>
          <a:p>
            <a:pPr>
              <a:defRPr sz="3200" b="1">
                <a:solidFill>
                  <a:srgbClr val="F97316"/>
                </a:solidFill>
              </a:defRPr>
            </a:pPr>
            <a:r>
              <a:t>POLYGLOT MICROSERVICES INTEGRATION</a:t>
            </a:r>
          </a:p>
        </p:txBody>
      </p:sp>
      <p:sp>
        <p:nvSpPr>
          <p:cNvPr id="3" name="TextBox 2"/>
          <p:cNvSpPr txBox="1"/>
          <p:nvPr/>
        </p:nvSpPr>
        <p:spPr>
          <a:xfrm>
            <a:off x="914400" y="1371600"/>
            <a:ext cx="10332720" cy="1097280"/>
          </a:xfrm>
          <a:prstGeom prst="rect">
            <a:avLst/>
          </a:prstGeom>
          <a:noFill/>
        </p:spPr>
        <p:txBody>
          <a:bodyPr wrap="square">
            <a:spAutoFit/>
          </a:bodyPr>
          <a:lstStyle/>
          <a:p>
            <a:pPr>
              <a:defRPr sz="1600">
                <a:solidFill>
                  <a:srgbClr val="1E293B"/>
                </a:solidFill>
              </a:defRPr>
            </a:pPr>
            <a:r>
              <a:t>- Tính trung lập công nghệ (Technology Agnostic) của SOA: Cùng một ID Token do Firebase cấp, được tích hợp bảo vệ đồng thời cho cả 3 Backend: Java Spring Boot, Python FastAPI và NodeJS Express.</a:t>
            </a:r>
            <a:br/>
            <a:r>
              <a:t>- Filter đóng vai trò là cửa ngõ kiểm soát an ninh trước khi request chạm tới Business Controller.</a:t>
            </a:r>
          </a:p>
        </p:txBody>
      </p:sp>
      <p:sp>
        <p:nvSpPr>
          <p:cNvPr id="4" name="Rounded Rectangle 3"/>
          <p:cNvSpPr/>
          <p:nvPr/>
        </p:nvSpPr>
        <p:spPr>
          <a:xfrm>
            <a:off x="914400" y="3474720"/>
            <a:ext cx="2377440" cy="201168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EA5E9"/>
                </a:solidFill>
              </a:defRPr>
            </a:pPr>
            <a:r>
              <a:t>Client Request</a:t>
            </a:r>
          </a:p>
          <a:p>
            <a:pPr algn="ctr">
              <a:spcBef>
                <a:spcPts val="800"/>
              </a:spcBef>
              <a:defRPr sz="1300">
                <a:solidFill>
                  <a:srgbClr val="475569"/>
                </a:solidFill>
              </a:defRPr>
            </a:pPr>
            <a:r>
              <a:t>Gửi HTTP kèm</a:t>
            </a:r>
            <a:br/>
            <a:r>
              <a:t>Bearer Token</a:t>
            </a:r>
          </a:p>
        </p:txBody>
      </p:sp>
      <p:sp>
        <p:nvSpPr>
          <p:cNvPr id="5" name="Rounded Rectangle 4"/>
          <p:cNvSpPr/>
          <p:nvPr/>
        </p:nvSpPr>
        <p:spPr>
          <a:xfrm>
            <a:off x="3657600" y="3474720"/>
            <a:ext cx="2377440" cy="201168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97316"/>
                </a:solidFill>
              </a:defRPr>
            </a:pPr>
            <a:r>
              <a:t>Security Filter</a:t>
            </a:r>
          </a:p>
          <a:p>
            <a:pPr algn="ctr">
              <a:spcBef>
                <a:spcPts val="800"/>
              </a:spcBef>
              <a:defRPr sz="1300">
                <a:solidFill>
                  <a:srgbClr val="475569"/>
                </a:solidFill>
              </a:defRPr>
            </a:pPr>
            <a:r>
              <a:t>Bóc tách Header</a:t>
            </a:r>
            <a:br/>
            <a:r>
              <a:t>&amp; Verify RS256</a:t>
            </a:r>
          </a:p>
        </p:txBody>
      </p:sp>
      <p:sp>
        <p:nvSpPr>
          <p:cNvPr id="6" name="Rounded Rectangle 5"/>
          <p:cNvSpPr/>
          <p:nvPr/>
        </p:nvSpPr>
        <p:spPr>
          <a:xfrm>
            <a:off x="6400800" y="3474720"/>
            <a:ext cx="2377440" cy="2011680"/>
          </a:xfrm>
          <a:prstGeom prst="roundRect">
            <a:avLst/>
          </a:prstGeom>
          <a:solidFill>
            <a:srgbClr val="F8FAFC"/>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E293B"/>
                </a:solidFill>
              </a:defRPr>
            </a:pPr>
            <a:r>
              <a:t>Token Hợp Lệ?</a:t>
            </a:r>
          </a:p>
          <a:p>
            <a:pPr algn="ctr">
              <a:spcBef>
                <a:spcPts val="800"/>
              </a:spcBef>
              <a:defRPr sz="1300">
                <a:solidFill>
                  <a:srgbClr val="475569"/>
                </a:solidFill>
              </a:defRPr>
            </a:pPr>
            <a:r>
              <a:t>Kiểm tra chữ ký</a:t>
            </a:r>
            <a:br/>
            <a:r>
              <a:t>&amp; hạn dùng exp</a:t>
            </a:r>
          </a:p>
        </p:txBody>
      </p:sp>
      <p:sp>
        <p:nvSpPr>
          <p:cNvPr id="7" name="Rounded Rectangle 6"/>
          <p:cNvSpPr/>
          <p:nvPr/>
        </p:nvSpPr>
        <p:spPr>
          <a:xfrm>
            <a:off x="9144000" y="2926080"/>
            <a:ext cx="2103120" cy="1188720"/>
          </a:xfrm>
          <a:prstGeom prst="roundRect">
            <a:avLst/>
          </a:prstGeom>
          <a:solidFill>
            <a:srgbClr val="DCFCE7"/>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5803D"/>
                </a:solidFill>
              </a:defRPr>
            </a:pPr>
            <a:r>
              <a:t>✅ Hợp Lệ: 200 OK</a:t>
            </a:r>
            <a:br/>
            <a:r>
              <a:t>(Cho phép truy cập)</a:t>
            </a:r>
          </a:p>
        </p:txBody>
      </p:sp>
      <p:sp>
        <p:nvSpPr>
          <p:cNvPr id="8" name="Rounded Rectangle 7"/>
          <p:cNvSpPr/>
          <p:nvPr/>
        </p:nvSpPr>
        <p:spPr>
          <a:xfrm>
            <a:off x="9144000" y="4389120"/>
            <a:ext cx="2103120" cy="1188720"/>
          </a:xfrm>
          <a:prstGeom prst="roundRect">
            <a:avLst/>
          </a:prstGeom>
          <a:solidFill>
            <a:srgbClr val="FEE2E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B91C1C"/>
                </a:solidFill>
              </a:defRPr>
            </a:pPr>
            <a:r>
              <a:t>❌ Sai Lệch: 401/403</a:t>
            </a:r>
            <a:br/>
            <a:r>
              <a:t>(Chặn ngay lập tức)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10332720" cy="731520"/>
          </a:xfrm>
          <a:prstGeom prst="rect">
            <a:avLst/>
          </a:prstGeom>
          <a:noFill/>
        </p:spPr>
        <p:txBody>
          <a:bodyPr wrap="none">
            <a:spAutoFit/>
          </a:bodyPr>
          <a:lstStyle/>
          <a:p>
            <a:pPr>
              <a:defRPr sz="3200" b="1">
                <a:solidFill>
                  <a:srgbClr val="F97316"/>
                </a:solidFill>
              </a:defRPr>
            </a:pPr>
            <a:r>
              <a:t>ARCHITECTURE DESIGN &amp; WORKFLOW</a:t>
            </a:r>
          </a:p>
        </p:txBody>
      </p:sp>
      <p:pic>
        <p:nvPicPr>
          <p:cNvPr id="3" name="Picture 2" descr="firebase_workflow_serpentine.jpg"/>
          <p:cNvPicPr>
            <a:picLocks noChangeAspect="1"/>
          </p:cNvPicPr>
          <p:nvPr/>
        </p:nvPicPr>
        <p:blipFill>
          <a:blip r:embed="rId2"/>
          <a:stretch>
            <a:fillRect/>
          </a:stretch>
        </p:blipFill>
        <p:spPr>
          <a:xfrm>
            <a:off x="3352190" y="1188720"/>
            <a:ext cx="5486400" cy="5486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32720" cy="731520"/>
          </a:xfrm>
          <a:prstGeom prst="rect">
            <a:avLst/>
          </a:prstGeom>
          <a:noFill/>
        </p:spPr>
        <p:txBody>
          <a:bodyPr wrap="none">
            <a:spAutoFit/>
          </a:bodyPr>
          <a:lstStyle/>
          <a:p>
            <a:pPr>
              <a:defRPr sz="3200" b="1">
                <a:solidFill>
                  <a:srgbClr val="F97316"/>
                </a:solidFill>
              </a:defRPr>
            </a:pPr>
            <a:r>
              <a:t>AUTOMATED CI/CD PIPELINE &amp; DEPLOYMENT</a:t>
            </a:r>
          </a:p>
        </p:txBody>
      </p:sp>
      <p:sp>
        <p:nvSpPr>
          <p:cNvPr id="3" name="TextBox 2"/>
          <p:cNvSpPr txBox="1"/>
          <p:nvPr/>
        </p:nvSpPr>
        <p:spPr>
          <a:xfrm>
            <a:off x="914400" y="1188720"/>
            <a:ext cx="10332720" cy="548640"/>
          </a:xfrm>
          <a:prstGeom prst="rect">
            <a:avLst/>
          </a:prstGeom>
          <a:noFill/>
        </p:spPr>
        <p:txBody>
          <a:bodyPr wrap="square">
            <a:spAutoFit/>
          </a:bodyPr>
          <a:lstStyle/>
          <a:p>
            <a:pPr>
              <a:defRPr sz="1500">
                <a:solidFill>
                  <a:srgbClr val="475569"/>
                </a:solidFill>
              </a:defRPr>
            </a:pPr>
            <a:r>
              <a:t>Tự động hóa hoàn toàn quy trình đóng gói &amp; triển khai ứng dụng lên CDN toàn cầu của Google qua GitHub Actions</a:t>
            </a:r>
          </a:p>
        </p:txBody>
      </p:sp>
      <p:sp>
        <p:nvSpPr>
          <p:cNvPr id="4" name="Rounded Rectangle 3"/>
          <p:cNvSpPr/>
          <p:nvPr/>
        </p:nvSpPr>
        <p:spPr>
          <a:xfrm>
            <a:off x="914400" y="1920240"/>
            <a:ext cx="2103120" cy="192024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1. Git Push Code</a:t>
            </a:r>
          </a:p>
          <a:p>
            <a:pPr algn="ctr">
              <a:spcBef>
                <a:spcPts val="1000"/>
              </a:spcBef>
              <a:defRPr sz="1300">
                <a:solidFill>
                  <a:srgbClr val="1E293B"/>
                </a:solidFill>
              </a:defRPr>
            </a:pPr>
            <a:r>
              <a:t>Developer đẩy code mới</a:t>
            </a:r>
            <a:br/>
            <a:r>
              <a:t>lên nhánh main GitHub</a:t>
            </a:r>
          </a:p>
        </p:txBody>
      </p:sp>
      <p:sp>
        <p:nvSpPr>
          <p:cNvPr id="5" name="Rounded Rectangle 4"/>
          <p:cNvSpPr/>
          <p:nvPr/>
        </p:nvSpPr>
        <p:spPr>
          <a:xfrm>
            <a:off x="3657600" y="1920240"/>
            <a:ext cx="2103120" cy="1920240"/>
          </a:xfrm>
          <a:prstGeom prst="roundRect">
            <a:avLst/>
          </a:prstGeom>
          <a:solidFill>
            <a:srgbClr val="F8FAFC"/>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97316"/>
                </a:solidFill>
              </a:defRPr>
            </a:pPr>
            <a:r>
              <a:t>2. Actions Trigger</a:t>
            </a:r>
          </a:p>
          <a:p>
            <a:pPr algn="ctr">
              <a:spcBef>
                <a:spcPts val="1000"/>
              </a:spcBef>
              <a:defRPr sz="1300">
                <a:solidFill>
                  <a:srgbClr val="1E293B"/>
                </a:solidFill>
              </a:defRPr>
            </a:pPr>
            <a:r>
              <a:t>GitHub lắng nghe push event,</a:t>
            </a:r>
            <a:br/>
            <a:r>
              <a:t>bật Ubuntu Runner ảo</a:t>
            </a:r>
          </a:p>
        </p:txBody>
      </p:sp>
      <p:sp>
        <p:nvSpPr>
          <p:cNvPr id="6" name="Rounded Rectangle 5"/>
          <p:cNvSpPr/>
          <p:nvPr/>
        </p:nvSpPr>
        <p:spPr>
          <a:xfrm>
            <a:off x="6400800" y="1920240"/>
            <a:ext cx="2103120" cy="1920240"/>
          </a:xfrm>
          <a:prstGeom prst="roundRect">
            <a:avLst/>
          </a:prstGeom>
          <a:solidFill>
            <a:srgbClr val="F8FAFC"/>
          </a:solidFill>
          <a:ln w="254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293B"/>
                </a:solidFill>
              </a:defRPr>
            </a:pPr>
            <a:r>
              <a:t>3. Automated Build</a:t>
            </a:r>
          </a:p>
          <a:p>
            <a:pPr algn="ctr">
              <a:spcBef>
                <a:spcPts val="1000"/>
              </a:spcBef>
              <a:defRPr sz="1300">
                <a:solidFill>
                  <a:srgbClr val="1E293B"/>
                </a:solidFill>
              </a:defRPr>
            </a:pPr>
            <a:r>
              <a:t>Cài đặt npm ci, nạp secrets</a:t>
            </a:r>
            <a:br/>
            <a:r>
              <a:t>và đóng gói npm run build</a:t>
            </a:r>
          </a:p>
        </p:txBody>
      </p:sp>
      <p:sp>
        <p:nvSpPr>
          <p:cNvPr id="7" name="Rounded Rectangle 6"/>
          <p:cNvSpPr/>
          <p:nvPr/>
        </p:nvSpPr>
        <p:spPr>
          <a:xfrm>
            <a:off x="9144000" y="1920240"/>
            <a:ext cx="2103120" cy="192024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C55E"/>
                </a:solidFill>
              </a:defRPr>
            </a:pPr>
            <a:r>
              <a:t>4. Firebase Deploy</a:t>
            </a:r>
          </a:p>
          <a:p>
            <a:pPr algn="ctr">
              <a:spcBef>
                <a:spcPts val="1000"/>
              </a:spcBef>
              <a:defRPr sz="1300">
                <a:solidFill>
                  <a:srgbClr val="1E293B"/>
                </a:solidFill>
              </a:defRPr>
            </a:pPr>
            <a:r>
              <a:t>Service Account đẩy dist/</a:t>
            </a:r>
            <a:br/>
            <a:r>
              <a:t>lên CDN toàn cầu live</a:t>
            </a:r>
          </a:p>
        </p:txBody>
      </p:sp>
      <p:sp>
        <p:nvSpPr>
          <p:cNvPr id="8" name="TextBox 7"/>
          <p:cNvSpPr txBox="1"/>
          <p:nvPr/>
        </p:nvSpPr>
        <p:spPr>
          <a:xfrm>
            <a:off x="3090672" y="2560320"/>
            <a:ext cx="457200" cy="457200"/>
          </a:xfrm>
          <a:prstGeom prst="rect">
            <a:avLst/>
          </a:prstGeom>
          <a:noFill/>
        </p:spPr>
        <p:txBody>
          <a:bodyPr wrap="none">
            <a:spAutoFit/>
          </a:bodyPr>
          <a:lstStyle/>
          <a:p>
            <a:pPr algn="ctr">
              <a:defRPr sz="2200" b="1">
                <a:solidFill>
                  <a:srgbClr val="CBD5E1"/>
                </a:solidFill>
              </a:defRPr>
            </a:pPr>
            <a:r>
              <a:t>➔</a:t>
            </a:r>
          </a:p>
        </p:txBody>
      </p:sp>
      <p:sp>
        <p:nvSpPr>
          <p:cNvPr id="9" name="TextBox 8"/>
          <p:cNvSpPr txBox="1"/>
          <p:nvPr/>
        </p:nvSpPr>
        <p:spPr>
          <a:xfrm>
            <a:off x="5833872" y="2560320"/>
            <a:ext cx="457200" cy="457200"/>
          </a:xfrm>
          <a:prstGeom prst="rect">
            <a:avLst/>
          </a:prstGeom>
          <a:noFill/>
        </p:spPr>
        <p:txBody>
          <a:bodyPr wrap="none">
            <a:spAutoFit/>
          </a:bodyPr>
          <a:lstStyle/>
          <a:p>
            <a:pPr algn="ctr">
              <a:defRPr sz="2200" b="1">
                <a:solidFill>
                  <a:srgbClr val="CBD5E1"/>
                </a:solidFill>
              </a:defRPr>
            </a:pPr>
            <a:r>
              <a:t>➔</a:t>
            </a:r>
          </a:p>
        </p:txBody>
      </p:sp>
      <p:sp>
        <p:nvSpPr>
          <p:cNvPr id="10" name="TextBox 9"/>
          <p:cNvSpPr txBox="1"/>
          <p:nvPr/>
        </p:nvSpPr>
        <p:spPr>
          <a:xfrm>
            <a:off x="8577072" y="2560320"/>
            <a:ext cx="457200" cy="457200"/>
          </a:xfrm>
          <a:prstGeom prst="rect">
            <a:avLst/>
          </a:prstGeom>
          <a:noFill/>
        </p:spPr>
        <p:txBody>
          <a:bodyPr wrap="none">
            <a:spAutoFit/>
          </a:bodyPr>
          <a:lstStyle/>
          <a:p>
            <a:pPr algn="ctr">
              <a:defRPr sz="2200" b="1">
                <a:solidFill>
                  <a:srgbClr val="CBD5E1"/>
                </a:solidFill>
              </a:defRPr>
            </a:pPr>
            <a:r>
              <a:t>➔</a:t>
            </a:r>
          </a:p>
        </p:txBody>
      </p:sp>
      <p:sp>
        <p:nvSpPr>
          <p:cNvPr id="11" name="Rounded Rectangle 10"/>
          <p:cNvSpPr/>
          <p:nvPr/>
        </p:nvSpPr>
        <p:spPr>
          <a:xfrm>
            <a:off x="914400" y="4114800"/>
            <a:ext cx="3291840" cy="210312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293B"/>
                </a:solidFill>
              </a:defRPr>
            </a:pPr>
            <a:r>
              <a:t>🔄 Continuous Delivery</a:t>
            </a:r>
          </a:p>
          <a:p>
            <a:pPr>
              <a:spcBef>
                <a:spcPts val="800"/>
              </a:spcBef>
              <a:defRPr sz="1300">
                <a:solidFill>
                  <a:srgbClr val="475569"/>
                </a:solidFill>
              </a:defRPr>
            </a:pPr>
            <a:r>
              <a:t>Đảm bảo frontend luôn tích hợp tức thời với hệ thống Microservices backend.</a:t>
            </a:r>
          </a:p>
        </p:txBody>
      </p:sp>
      <p:sp>
        <p:nvSpPr>
          <p:cNvPr id="12" name="Rounded Rectangle 11"/>
          <p:cNvSpPr/>
          <p:nvPr/>
        </p:nvSpPr>
        <p:spPr>
          <a:xfrm>
            <a:off x="4434840" y="4114800"/>
            <a:ext cx="3291840" cy="210312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293B"/>
                </a:solidFill>
              </a:defRPr>
            </a:pPr>
            <a:r>
              <a:t>⚡ Zero Downtime</a:t>
            </a:r>
          </a:p>
          <a:p>
            <a:pPr>
              <a:spcBef>
                <a:spcPts val="800"/>
              </a:spcBef>
              <a:defRPr sz="1300">
                <a:solidFill>
                  <a:srgbClr val="475569"/>
                </a:solidFill>
              </a:defRPr>
            </a:pPr>
            <a:r>
              <a:t>Triển khai phiên bản ổn định toàn cầu mà không làm gián đoạn người dùng.</a:t>
            </a:r>
          </a:p>
        </p:txBody>
      </p:sp>
      <p:sp>
        <p:nvSpPr>
          <p:cNvPr id="13" name="Rounded Rectangle 12"/>
          <p:cNvSpPr/>
          <p:nvPr/>
        </p:nvSpPr>
        <p:spPr>
          <a:xfrm>
            <a:off x="7955279" y="4114800"/>
            <a:ext cx="3291840" cy="2103120"/>
          </a:xfrm>
          <a:prstGeom prst="roundRect">
            <a:avLst/>
          </a:prstGeom>
          <a:solidFill>
            <a:srgbClr val="EEF2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E293B"/>
                </a:solidFill>
              </a:defRPr>
            </a:pPr>
            <a:r>
              <a:t>🛡️ Tách Biệt Quản Trị</a:t>
            </a:r>
          </a:p>
          <a:p>
            <a:pPr>
              <a:spcBef>
                <a:spcPts val="800"/>
              </a:spcBef>
              <a:defRPr sz="1300">
                <a:solidFill>
                  <a:srgbClr val="475569"/>
                </a:solidFill>
              </a:defRPr>
            </a:pPr>
            <a:r>
              <a:t>Loại bỏ hoàn toàn rủi ro deploy thủ công từ localhost, chuẩn hóa quy trình công nghiệp.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10332720" cy="731520"/>
          </a:xfrm>
          <a:prstGeom prst="rect">
            <a:avLst/>
          </a:prstGeom>
          <a:noFill/>
        </p:spPr>
        <p:txBody>
          <a:bodyPr wrap="none">
            <a:spAutoFit/>
          </a:bodyPr>
          <a:lstStyle/>
          <a:p>
            <a:pPr>
              <a:defRPr sz="3000" b="1">
                <a:solidFill>
                  <a:srgbClr val="F97316"/>
                </a:solidFill>
              </a:defRPr>
            </a:pPr>
            <a:r>
              <a:t>CI/CD THỰC CHIẾN: FAIL-SAFE &amp; ZERO-DOWNTIME ROLLBACK</a:t>
            </a:r>
          </a:p>
        </p:txBody>
      </p:sp>
      <p:sp>
        <p:nvSpPr>
          <p:cNvPr id="3" name="TextBox 2"/>
          <p:cNvSpPr txBox="1"/>
          <p:nvPr/>
        </p:nvSpPr>
        <p:spPr>
          <a:xfrm>
            <a:off x="914400" y="1097280"/>
            <a:ext cx="10332720" cy="457200"/>
          </a:xfrm>
          <a:prstGeom prst="rect">
            <a:avLst/>
          </a:prstGeom>
          <a:noFill/>
        </p:spPr>
        <p:txBody>
          <a:bodyPr wrap="square">
            <a:spAutoFit/>
          </a:bodyPr>
          <a:lstStyle/>
          <a:p>
            <a:pPr>
              <a:defRPr sz="1400">
                <a:solidFill>
                  <a:srgbClr val="475569"/>
                </a:solidFill>
              </a:defRPr>
            </a:pPr>
            <a:r>
              <a:t>Kiểm chứng 3 kịch bản vận hành thực tế &amp; khả năng tự bảo vệ của hạ tầng Cloud</a:t>
            </a:r>
          </a:p>
        </p:txBody>
      </p:sp>
      <p:sp>
        <p:nvSpPr>
          <p:cNvPr id="4" name="Rounded Rectangle 3"/>
          <p:cNvSpPr/>
          <p:nvPr/>
        </p:nvSpPr>
        <p:spPr>
          <a:xfrm>
            <a:off x="914400" y="1645920"/>
            <a:ext cx="3291840" cy="338328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22C55E"/>
                </a:solidFill>
              </a:defRPr>
            </a:pPr>
            <a:r>
              <a:t>🟢 1. Happy Path</a:t>
            </a:r>
          </a:p>
          <a:p>
            <a:pPr>
              <a:spcBef>
                <a:spcPts val="800"/>
              </a:spcBef>
              <a:defRPr sz="1200">
                <a:solidFill>
                  <a:srgbClr val="1E293B"/>
                </a:solidFill>
              </a:defRPr>
            </a:pPr>
            <a:r>
              <a:t>• Developer commit code đúng lên nhánh main.</a:t>
            </a:r>
          </a:p>
          <a:p>
            <a:pPr>
              <a:spcBef>
                <a:spcPts val="800"/>
              </a:spcBef>
              <a:defRPr sz="1200">
                <a:solidFill>
                  <a:srgbClr val="1E293B"/>
                </a:solidFill>
              </a:defRPr>
            </a:pPr>
            <a:r>
              <a:t>• GitHub Runner nạp 8 Secrets mã hóa AES-256.</a:t>
            </a:r>
          </a:p>
          <a:p>
            <a:pPr>
              <a:spcBef>
                <a:spcPts val="800"/>
              </a:spcBef>
              <a:defRPr sz="1200">
                <a:solidFill>
                  <a:srgbClr val="1E293B"/>
                </a:solidFill>
              </a:defRPr>
            </a:pPr>
            <a:r>
              <a:t>• npm run build pass -&gt; Deploy lên CDN Firebase.</a:t>
            </a:r>
          </a:p>
          <a:p>
            <a:pPr>
              <a:spcBef>
                <a:spcPts val="800"/>
              </a:spcBef>
              <a:defRPr sz="1200">
                <a:solidFill>
                  <a:srgbClr val="1E293B"/>
                </a:solidFill>
              </a:defRPr>
            </a:pPr>
            <a:r>
              <a:t>• Kết quả: Web toàn cầu cập nhật tức thì trong ~1 phút.</a:t>
            </a:r>
          </a:p>
        </p:txBody>
      </p:sp>
      <p:sp>
        <p:nvSpPr>
          <p:cNvPr id="5" name="Rounded Rectangle 4"/>
          <p:cNvSpPr/>
          <p:nvPr/>
        </p:nvSpPr>
        <p:spPr>
          <a:xfrm>
            <a:off x="4434840" y="1645920"/>
            <a:ext cx="3291840" cy="3383280"/>
          </a:xfrm>
          <a:prstGeom prst="roundRect">
            <a:avLst/>
          </a:prstGeom>
          <a:solidFill>
            <a:srgbClr val="F8FAFC"/>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2. Runtime Error</a:t>
            </a:r>
          </a:p>
          <a:p>
            <a:pPr>
              <a:spcBef>
                <a:spcPts val="800"/>
              </a:spcBef>
              <a:defRPr sz="1200">
                <a:solidFill>
                  <a:srgbClr val="1E293B"/>
                </a:solidFill>
              </a:defRPr>
            </a:pPr>
            <a:r>
              <a:t>• Code sai logic (VD: biến chưa khai báo).</a:t>
            </a:r>
          </a:p>
          <a:p>
            <a:pPr>
              <a:spcBef>
                <a:spcPts val="800"/>
              </a:spcBef>
              <a:defRPr sz="1200">
                <a:solidFill>
                  <a:srgbClr val="1E293B"/>
                </a:solidFill>
              </a:defRPr>
            </a:pPr>
            <a:r>
              <a:t>• npm run build vẫn pass do đúng cú pháp đóng gói.</a:t>
            </a:r>
          </a:p>
          <a:p>
            <a:pPr>
              <a:spcBef>
                <a:spcPts val="800"/>
              </a:spcBef>
              <a:defRPr sz="1200">
                <a:solidFill>
                  <a:srgbClr val="1E293B"/>
                </a:solidFill>
              </a:defRPr>
            </a:pPr>
            <a:r>
              <a:t>• Lên Web bị MÀN HÌNH TRẮNG (F12 Console báo đỏ).</a:t>
            </a:r>
          </a:p>
          <a:p>
            <a:pPr>
              <a:spcBef>
                <a:spcPts val="800"/>
              </a:spcBef>
              <a:defRPr sz="1200">
                <a:solidFill>
                  <a:srgbClr val="1E293B"/>
                </a:solidFill>
              </a:defRPr>
            </a:pPr>
            <a:r>
              <a:t>• Bài học: Cần bổ sung Automated Tests &amp; TypeScript.</a:t>
            </a:r>
          </a:p>
        </p:txBody>
      </p:sp>
      <p:sp>
        <p:nvSpPr>
          <p:cNvPr id="6" name="Rounded Rectangle 5"/>
          <p:cNvSpPr/>
          <p:nvPr/>
        </p:nvSpPr>
        <p:spPr>
          <a:xfrm>
            <a:off x="7955279" y="1645920"/>
            <a:ext cx="3291840" cy="3383280"/>
          </a:xfrm>
          <a:prstGeom prst="roundRect">
            <a:avLst/>
          </a:prstGeom>
          <a:solidFill>
            <a:srgbClr val="F8FAFC"/>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EF4444"/>
                </a:solidFill>
              </a:defRPr>
            </a:pPr>
            <a:r>
              <a:t>🔴 3. Build Fail-Safe</a:t>
            </a:r>
          </a:p>
          <a:p>
            <a:pPr>
              <a:spcBef>
                <a:spcPts val="800"/>
              </a:spcBef>
              <a:defRPr sz="1200">
                <a:solidFill>
                  <a:srgbClr val="1E293B"/>
                </a:solidFill>
              </a:defRPr>
            </a:pPr>
            <a:r>
              <a:t>• Code vỡ biên dịch (VD: import file không tồn tại).</a:t>
            </a:r>
          </a:p>
          <a:p>
            <a:pPr>
              <a:spcBef>
                <a:spcPts val="800"/>
              </a:spcBef>
              <a:defRPr sz="1200">
                <a:solidFill>
                  <a:srgbClr val="1E293B"/>
                </a:solidFill>
              </a:defRPr>
            </a:pPr>
            <a:r>
              <a:t>• npm run build báo đỏ ❌ -&gt; CI/CD NGẮT NGAY LẬP TỨC!</a:t>
            </a:r>
          </a:p>
          <a:p>
            <a:pPr>
              <a:spcBef>
                <a:spcPts val="800"/>
              </a:spcBef>
              <a:defRPr sz="1200">
                <a:solidFill>
                  <a:srgbClr val="1E293B"/>
                </a:solidFill>
              </a:defRPr>
            </a:pPr>
            <a:r>
              <a:t>• Bước Deploy bị hủy (Skipped) -&gt; Code độc bị chặn đứng.</a:t>
            </a:r>
          </a:p>
          <a:p>
            <a:pPr>
              <a:spcBef>
                <a:spcPts val="800"/>
              </a:spcBef>
              <a:defRPr sz="1200">
                <a:solidFill>
                  <a:srgbClr val="1E293B"/>
                </a:solidFill>
              </a:defRPr>
            </a:pPr>
            <a:r>
              <a:t>• Web VẪN HOẠT ĐỘNG 100%: CDN giữ nguyên bản cũ ổn định.</a:t>
            </a:r>
          </a:p>
        </p:txBody>
      </p:sp>
      <p:sp>
        <p:nvSpPr>
          <p:cNvPr id="7" name="Rounded Rectangle 6"/>
          <p:cNvSpPr/>
          <p:nvPr/>
        </p:nvSpPr>
        <p:spPr>
          <a:xfrm>
            <a:off x="914400" y="5212080"/>
            <a:ext cx="10332720" cy="1188720"/>
          </a:xfrm>
          <a:prstGeom prst="roundRect">
            <a:avLst/>
          </a:prstGeom>
          <a:solidFill>
            <a:srgbClr val="EEF2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defRPr>
            </a:pPr>
            <a:r>
              <a:t>🔍 QUẢN LÝ PHIÊN BẢN TRÊN FIREBASE CONSOLE &amp; ROLLBACK 1-CLICK</a:t>
            </a:r>
          </a:p>
          <a:p>
            <a:pPr algn="ctr">
              <a:spcBef>
                <a:spcPts val="400"/>
              </a:spcBef>
              <a:defRPr sz="1200">
                <a:solidFill>
                  <a:srgbClr val="1E293B"/>
                </a:solidFill>
              </a:defRPr>
            </a:pPr>
            <a:r>
              <a:t>Mỗi lần deploy được lưu thành 1 snapshot độc lập trên Firebase Console. Nếu một phiên bản gặp sự cố logic bất ngờ, DevOps engineer chỉ cần bấm nút 'Rollback' trên Console để khôi phục bản cũ an toàn trong chưa đầy 1 giây mà không cần build lại mã nguồn!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10332720" cy="731520"/>
          </a:xfrm>
          <a:prstGeom prst="rect">
            <a:avLst/>
          </a:prstGeom>
          <a:noFill/>
        </p:spPr>
        <p:txBody>
          <a:bodyPr wrap="none">
            <a:spAutoFit/>
          </a:bodyPr>
          <a:lstStyle/>
          <a:p>
            <a:pPr>
              <a:defRPr sz="3000" b="1">
                <a:solidFill>
                  <a:srgbClr val="F97316"/>
                </a:solidFill>
              </a:defRPr>
            </a:pPr>
            <a:r>
              <a:t>CROSS-SYSTEM INTEGRATION: FEDERATED SINGLE SIGN-ON</a:t>
            </a:r>
          </a:p>
        </p:txBody>
      </p:sp>
      <p:sp>
        <p:nvSpPr>
          <p:cNvPr id="3" name="TextBox 2"/>
          <p:cNvSpPr txBox="1"/>
          <p:nvPr/>
        </p:nvSpPr>
        <p:spPr>
          <a:xfrm>
            <a:off x="914400" y="1097280"/>
            <a:ext cx="10332720" cy="457200"/>
          </a:xfrm>
          <a:prstGeom prst="rect">
            <a:avLst/>
          </a:prstGeom>
          <a:noFill/>
        </p:spPr>
        <p:txBody>
          <a:bodyPr wrap="square">
            <a:spAutoFit/>
          </a:bodyPr>
          <a:lstStyle/>
          <a:p>
            <a:pPr>
              <a:defRPr sz="1400">
                <a:solidFill>
                  <a:srgbClr val="475569"/>
                </a:solidFill>
              </a:defRPr>
            </a:pPr>
            <a:r>
              <a:t>Tích hợp 2 hệ sinh thái độc lập: Firebase Cloud-Native (Stateless) vs Google OAuth 2.0 (Stateful SQL Server)</a:t>
            </a:r>
          </a:p>
        </p:txBody>
      </p:sp>
      <p:sp>
        <p:nvSpPr>
          <p:cNvPr id="4" name="Rounded Rectangle 3"/>
          <p:cNvSpPr/>
          <p:nvPr/>
        </p:nvSpPr>
        <p:spPr>
          <a:xfrm>
            <a:off x="914400" y="1645920"/>
            <a:ext cx="5029200" cy="3566160"/>
          </a:xfrm>
          <a:prstGeom prst="roundRect">
            <a:avLst/>
          </a:prstGeom>
          <a:solidFill>
            <a:srgbClr val="F8FAFC"/>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defRPr>
            </a:pPr>
            <a:r>
              <a:t>🔵 HỆ THỐNG 1: FIREBASE CLOUD-NATIVE</a:t>
            </a:r>
          </a:p>
          <a:p>
            <a:pPr>
              <a:spcBef>
                <a:spcPts val="200"/>
              </a:spcBef>
              <a:defRPr sz="1100" b="1">
                <a:solidFill>
                  <a:srgbClr val="475569"/>
                </a:solidFill>
              </a:defRPr>
            </a:pPr>
            <a:r>
              <a:t>Dự án của bạn: Lê Phú &amp; Vũ Giang Huy</a:t>
            </a:r>
          </a:p>
          <a:p>
            <a:pPr>
              <a:spcBef>
                <a:spcPts val="600"/>
              </a:spcBef>
              <a:defRPr sz="1200">
                <a:solidFill>
                  <a:srgbClr val="1E293B"/>
                </a:solidFill>
              </a:defRPr>
            </a:pPr>
            <a:r>
              <a:t>• Mô hình: Identity-as-a-Service (IDaaS) hoàn toàn trên Cloud.</a:t>
            </a:r>
          </a:p>
          <a:p>
            <a:pPr>
              <a:spcBef>
                <a:spcPts val="600"/>
              </a:spcBef>
              <a:defRPr sz="1200">
                <a:solidFill>
                  <a:srgbClr val="1E293B"/>
                </a:solidFill>
              </a:defRPr>
            </a:pPr>
            <a:r>
              <a:t>• Cơ sở dữ liệu: Stateless — Không cần Database lưu User/Password.</a:t>
            </a:r>
          </a:p>
          <a:p>
            <a:pPr>
              <a:spcBef>
                <a:spcPts val="600"/>
              </a:spcBef>
              <a:defRPr sz="1200">
                <a:solidFill>
                  <a:srgbClr val="1E293B"/>
                </a:solidFill>
              </a:defRPr>
            </a:pPr>
            <a:r>
              <a:t>• Xác thực Token: ID Token JWT ký số thuật toán RS256.</a:t>
            </a:r>
          </a:p>
          <a:p>
            <a:pPr>
              <a:spcBef>
                <a:spcPts val="600"/>
              </a:spcBef>
              <a:defRPr sz="1200">
                <a:solidFill>
                  <a:srgbClr val="1E293B"/>
                </a:solidFill>
              </a:defRPr>
            </a:pPr>
            <a:r>
              <a:t>• Hiệu năng: Giải mã Offline tại RAM &lt; 1ms qua Public Keys (JWKS).</a:t>
            </a:r>
          </a:p>
          <a:p>
            <a:pPr>
              <a:spcBef>
                <a:spcPts val="600"/>
              </a:spcBef>
              <a:defRPr sz="1200">
                <a:solidFill>
                  <a:srgbClr val="1E293B"/>
                </a:solidFill>
              </a:defRPr>
            </a:pPr>
            <a:r>
              <a:t>• Phân quyền: Firebase Custom Claims gắn trực tiếp trong Token.</a:t>
            </a:r>
          </a:p>
        </p:txBody>
      </p:sp>
      <p:sp>
        <p:nvSpPr>
          <p:cNvPr id="5" name="Rounded Rectangle 4"/>
          <p:cNvSpPr/>
          <p:nvPr/>
        </p:nvSpPr>
        <p:spPr>
          <a:xfrm>
            <a:off x="6217920" y="1645920"/>
            <a:ext cx="5029200" cy="3566160"/>
          </a:xfrm>
          <a:prstGeom prst="roundRect">
            <a:avLst/>
          </a:prstGeom>
          <a:solidFill>
            <a:srgbClr val="F8FAFC"/>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5803D"/>
                </a:solidFill>
              </a:defRPr>
            </a:pPr>
            <a:r>
              <a:t>🟢 HỆ THỐNG 2: GOOGLE OAUTH 2.0 &amp; SQL SERVER</a:t>
            </a:r>
          </a:p>
          <a:p>
            <a:pPr>
              <a:spcBef>
                <a:spcPts val="200"/>
              </a:spcBef>
              <a:defRPr sz="1100" b="1">
                <a:solidFill>
                  <a:srgbClr val="475569"/>
                </a:solidFill>
              </a:defRPr>
            </a:pPr>
            <a:r>
              <a:t>Dự án của Quân (soa-auth-system)</a:t>
            </a:r>
          </a:p>
          <a:p>
            <a:pPr>
              <a:spcBef>
                <a:spcPts val="600"/>
              </a:spcBef>
              <a:defRPr sz="1200">
                <a:solidFill>
                  <a:srgbClr val="1E293B"/>
                </a:solidFill>
              </a:defRPr>
            </a:pPr>
            <a:r>
              <a:t>• Mô hình: Spring Boot Security + OAuth 2.0 lưu Database riêng.</a:t>
            </a:r>
          </a:p>
          <a:p>
            <a:pPr>
              <a:spcBef>
                <a:spcPts val="600"/>
              </a:spcBef>
              <a:defRPr sz="1200">
                <a:solidFill>
                  <a:srgbClr val="1E293B"/>
                </a:solidFill>
              </a:defRPr>
            </a:pPr>
            <a:r>
              <a:t>• Cơ sở dữ liệu: Stateful — Lưu hồ sơ User trong SQL Server 2022 / H2.</a:t>
            </a:r>
          </a:p>
          <a:p>
            <a:pPr>
              <a:spcBef>
                <a:spcPts val="600"/>
              </a:spcBef>
              <a:defRPr sz="1200">
                <a:solidFill>
                  <a:srgbClr val="1E293B"/>
                </a:solidFill>
              </a:defRPr>
            </a:pPr>
            <a:r>
              <a:t>• Xác thực Token: Custom JWT do Backend tự ký bằng HMAC-SHA384.</a:t>
            </a:r>
          </a:p>
          <a:p>
            <a:pPr>
              <a:spcBef>
                <a:spcPts val="600"/>
              </a:spcBef>
              <a:defRPr sz="1200">
                <a:solidFill>
                  <a:srgbClr val="1E293B"/>
                </a:solidFill>
              </a:defRPr>
            </a:pPr>
            <a:r>
              <a:t>• Hiệu năng: Quản lý phiên Session, Blacklist Token và Refresh Token.</a:t>
            </a:r>
          </a:p>
          <a:p>
            <a:pPr>
              <a:spcBef>
                <a:spcPts val="600"/>
              </a:spcBef>
              <a:defRPr sz="1200">
                <a:solidFill>
                  <a:srgbClr val="1E293B"/>
                </a:solidFill>
              </a:defRPr>
            </a:pPr>
            <a:r>
              <a:t>• Phân quyền: Phân quyền động (ROLE_PERSONAL / ROLE_STUDENT).</a:t>
            </a:r>
          </a:p>
        </p:txBody>
      </p:sp>
      <p:sp>
        <p:nvSpPr>
          <p:cNvPr id="6" name="Rounded Rectangle 5"/>
          <p:cNvSpPr/>
          <p:nvPr/>
        </p:nvSpPr>
        <p:spPr>
          <a:xfrm>
            <a:off x="914400" y="5394960"/>
            <a:ext cx="10332720" cy="1005840"/>
          </a:xfrm>
          <a:prstGeom prst="round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B45309"/>
                </a:solidFill>
              </a:defRPr>
            </a:pPr>
            <a:r>
              <a:t>🌟 ĐIỂM HỘI TỤ SOA: 1 CLICK GOOGLE -&gt; 2 TOKEN -&gt; 2 BACKEND -&gt; 2 DATABASE</a:t>
            </a:r>
          </a:p>
          <a:p>
            <a:pPr algn="ctr">
              <a:spcBef>
                <a:spcPts val="400"/>
              </a:spcBef>
              <a:defRPr sz="1100">
                <a:solidFill>
                  <a:srgbClr val="1E293B"/>
                </a:solidFill>
              </a:defRPr>
            </a:pPr>
            <a:r>
              <a:t>Người dùng chỉ đăng nhập 1 lần duy nhất bằng Google trên giao diện Web. Hệ thống tự động phân phối danh tính đến cả 2 Backend, cấp 2 Token JWT riêng biệt và ghi dữ liệu đồng thời vào 2 Database mà không cần nhập lại mật khẩu!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10332720" cy="731520"/>
          </a:xfrm>
          <a:prstGeom prst="rect">
            <a:avLst/>
          </a:prstGeom>
          <a:noFill/>
        </p:spPr>
        <p:txBody>
          <a:bodyPr wrap="none">
            <a:spAutoFit/>
          </a:bodyPr>
          <a:lstStyle/>
          <a:p>
            <a:pPr>
              <a:defRPr sz="3000" b="1">
                <a:solidFill>
                  <a:srgbClr val="F97316"/>
                </a:solidFill>
              </a:defRPr>
            </a:pPr>
            <a:r>
              <a:t>TẠI SAO CODE CŨ CỦA QUÂN THẤT BẠI? &amp; GIẢI PHÁP</a:t>
            </a:r>
          </a:p>
        </p:txBody>
      </p:sp>
      <p:sp>
        <p:nvSpPr>
          <p:cNvPr id="3" name="TextBox 2"/>
          <p:cNvSpPr txBox="1"/>
          <p:nvPr/>
        </p:nvSpPr>
        <p:spPr>
          <a:xfrm>
            <a:off x="914400" y="1097280"/>
            <a:ext cx="10332720" cy="457200"/>
          </a:xfrm>
          <a:prstGeom prst="rect">
            <a:avLst/>
          </a:prstGeom>
          <a:noFill/>
        </p:spPr>
        <p:txBody>
          <a:bodyPr wrap="square">
            <a:spAutoFit/>
          </a:bodyPr>
          <a:lstStyle/>
          <a:p>
            <a:pPr>
              <a:defRPr sz="1400">
                <a:solidFill>
                  <a:srgbClr val="475569"/>
                </a:solidFill>
              </a:defRPr>
            </a:pPr>
            <a:r>
              <a:t>Giải quyết bài toán xung đột cơ chế xác thực giữa OAuth 2.0 Authorization Code Grant và Firebase Popup SDK</a:t>
            </a:r>
          </a:p>
        </p:txBody>
      </p:sp>
      <p:sp>
        <p:nvSpPr>
          <p:cNvPr id="4" name="Rounded Rectangle 3"/>
          <p:cNvSpPr/>
          <p:nvPr/>
        </p:nvSpPr>
        <p:spPr>
          <a:xfrm>
            <a:off x="914400" y="1645920"/>
            <a:ext cx="3291840" cy="246888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defRPr>
            </a:pPr>
            <a:r>
              <a:t>❌ 1. Lệch Luồng Grant Type</a:t>
            </a:r>
          </a:p>
          <a:p>
            <a:pPr>
              <a:spcBef>
                <a:spcPts val="800"/>
              </a:spcBef>
              <a:defRPr sz="1200">
                <a:solidFill>
                  <a:srgbClr val="1E293B"/>
                </a:solidFill>
              </a:defRPr>
            </a:pPr>
            <a:r>
              <a:t>• Code cũ của Quân dùng Authorization Code Grant (bắt buộc redirect toàn trang để lấy mã code).</a:t>
            </a:r>
          </a:p>
          <a:p>
            <a:pPr>
              <a:spcBef>
                <a:spcPts val="800"/>
              </a:spcBef>
              <a:defRPr sz="1200">
                <a:solidFill>
                  <a:srgbClr val="1E293B"/>
                </a:solidFill>
              </a:defRPr>
            </a:pPr>
            <a:r>
              <a:t>• Firebase Frontend dùng Popup SDK: Xác thực xong tại Client, HOÀN TOÀN KHÔNG CÓ mã code nào để gửi về callback!</a:t>
            </a:r>
          </a:p>
        </p:txBody>
      </p:sp>
      <p:sp>
        <p:nvSpPr>
          <p:cNvPr id="5" name="Rounded Rectangle 4"/>
          <p:cNvSpPr/>
          <p:nvPr/>
        </p:nvSpPr>
        <p:spPr>
          <a:xfrm>
            <a:off x="4434840" y="1645920"/>
            <a:ext cx="3291840" cy="246888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defRPr>
            </a:pPr>
            <a:r>
              <a:t>❌ 2. Token Firebase Lệch Issuer</a:t>
            </a:r>
          </a:p>
          <a:p>
            <a:pPr>
              <a:spcBef>
                <a:spcPts val="800"/>
              </a:spcBef>
              <a:defRPr sz="1200">
                <a:solidFill>
                  <a:srgbClr val="1E293B"/>
                </a:solidFill>
              </a:defRPr>
            </a:pPr>
            <a:r>
              <a:t>• Token Firebase do securetoken.google.com/&lt;project&gt; ký số.</a:t>
            </a:r>
          </a:p>
          <a:p>
            <a:pPr>
              <a:spcBef>
                <a:spcPts val="800"/>
              </a:spcBef>
              <a:defRPr sz="1200">
                <a:solidFill>
                  <a:srgbClr val="1E293B"/>
                </a:solidFill>
              </a:defRPr>
            </a:pPr>
            <a:r>
              <a:t>• Backend của Quân không cài Firebase Admin SDK và không có private key dự án Firebase -&gt; Lỗi Invalid Signature ngay!</a:t>
            </a:r>
          </a:p>
        </p:txBody>
      </p:sp>
      <p:sp>
        <p:nvSpPr>
          <p:cNvPr id="6" name="Rounded Rectangle 5"/>
          <p:cNvSpPr/>
          <p:nvPr/>
        </p:nvSpPr>
        <p:spPr>
          <a:xfrm>
            <a:off x="7955279" y="1645920"/>
            <a:ext cx="3291840" cy="246888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defRPr>
            </a:pPr>
            <a:r>
              <a:t>❌ 3. Thiếu API Tiếp Nhận</a:t>
            </a:r>
          </a:p>
          <a:p>
            <a:pPr>
              <a:spcBef>
                <a:spcPts val="800"/>
              </a:spcBef>
              <a:defRPr sz="1200">
                <a:solidFill>
                  <a:srgbClr val="1E293B"/>
                </a:solidFill>
              </a:defRPr>
            </a:pPr>
            <a:r>
              <a:t>• Controller cũ của Quân chỉ có endpoint nhận code (/google/callback).</a:t>
            </a:r>
          </a:p>
          <a:p>
            <a:pPr>
              <a:spcBef>
                <a:spcPts val="800"/>
              </a:spcBef>
              <a:defRPr sz="1200">
                <a:solidFill>
                  <a:srgbClr val="1E293B"/>
                </a:solidFill>
              </a:defRPr>
            </a:pPr>
            <a:r>
              <a:t>• Hoàn toàn thiếu endpoint nhận Token đã xác thực từ Client bên thứ ba.</a:t>
            </a:r>
          </a:p>
        </p:txBody>
      </p:sp>
      <p:sp>
        <p:nvSpPr>
          <p:cNvPr id="7" name="Rounded Rectangle 6"/>
          <p:cNvSpPr/>
          <p:nvPr/>
        </p:nvSpPr>
        <p:spPr>
          <a:xfrm>
            <a:off x="914400" y="4297680"/>
            <a:ext cx="10332720" cy="2103120"/>
          </a:xfrm>
          <a:prstGeom prst="roundRect">
            <a:avLst/>
          </a:prstGeom>
          <a:solidFill>
            <a:srgbClr val="F0FDF4"/>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5803D"/>
                </a:solidFill>
              </a:defRPr>
            </a:pPr>
            <a:r>
              <a:t>💡 GIẢI PHÁP ĐỘT PHÁ: FEDERATED IDENTITY TOKEN EXCHANGE</a:t>
            </a:r>
          </a:p>
          <a:p>
            <a:pPr>
              <a:spcBef>
                <a:spcPts val="400"/>
              </a:spcBef>
              <a:defRPr sz="1200">
                <a:solidFill>
                  <a:srgbClr val="1E293B"/>
                </a:solidFill>
              </a:defRPr>
            </a:pPr>
            <a:r>
              <a:t>1. Phía Frontend: Trích xuất thêm credential.idToken (Google ID Token gốc do chính Google ký bằng RS256).</a:t>
            </a:r>
          </a:p>
          <a:p>
            <a:pPr>
              <a:spcBef>
                <a:spcPts val="400"/>
              </a:spcBef>
              <a:defRPr sz="1200">
                <a:solidFill>
                  <a:srgbClr val="1E293B"/>
                </a:solidFill>
              </a:defRPr>
            </a:pPr>
            <a:r>
              <a:t>2. Phía Backend Quân: Mở endpoint mới POST /api/auth/google/firebase-token nhận idToken.</a:t>
            </a:r>
          </a:p>
          <a:p>
            <a:pPr>
              <a:spcBef>
                <a:spcPts val="400"/>
              </a:spcBef>
              <a:defRPr sz="1200">
                <a:solidFill>
                  <a:srgbClr val="1E293B"/>
                </a:solidFill>
              </a:defRPr>
            </a:pPr>
            <a:r>
              <a:t>3. Xác thực bằng GoogleIdTokenVerifier: Backend Quân tự verify chữ ký RS256 với Google Public Keys (JWKS).</a:t>
            </a:r>
          </a:p>
          <a:p>
            <a:pPr>
              <a:spcBef>
                <a:spcPts val="400"/>
              </a:spcBef>
              <a:defRPr sz="1200">
                <a:solidFill>
                  <a:srgbClr val="1E293B"/>
                </a:solidFill>
              </a:defRPr>
            </a:pPr>
            <a:r>
              <a:t>4. Tự động lưu Database &amp; Cấp JWT: Tận dụng hàm processGoogleUserInfo lưu user vào DB và cấp JWT riêng (HMAC-384).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365760"/>
            <a:ext cx="10332720" cy="731520"/>
          </a:xfrm>
          <a:prstGeom prst="rect">
            <a:avLst/>
          </a:prstGeom>
          <a:noFill/>
        </p:spPr>
        <p:txBody>
          <a:bodyPr wrap="none">
            <a:spAutoFit/>
          </a:bodyPr>
          <a:lstStyle/>
          <a:p>
            <a:pPr>
              <a:defRPr sz="3000" b="1">
                <a:solidFill>
                  <a:srgbClr val="F97316"/>
                </a:solidFill>
              </a:defRPr>
            </a:pPr>
            <a:r>
              <a:t>SO SÁNH CODE TRỰC QUAN: BEFORE VS AFTER</a:t>
            </a:r>
          </a:p>
        </p:txBody>
      </p:sp>
      <p:sp>
        <p:nvSpPr>
          <p:cNvPr id="3" name="TextBox 2"/>
          <p:cNvSpPr txBox="1"/>
          <p:nvPr/>
        </p:nvSpPr>
        <p:spPr>
          <a:xfrm>
            <a:off x="914400" y="1097280"/>
            <a:ext cx="10332720" cy="457200"/>
          </a:xfrm>
          <a:prstGeom prst="rect">
            <a:avLst/>
          </a:prstGeom>
          <a:noFill/>
        </p:spPr>
        <p:txBody>
          <a:bodyPr wrap="square">
            <a:spAutoFit/>
          </a:bodyPr>
          <a:lstStyle/>
          <a:p>
            <a:pPr>
              <a:defRPr sz="1400">
                <a:solidFill>
                  <a:srgbClr val="475569"/>
                </a:solidFill>
              </a:defRPr>
            </a:pPr>
            <a:r>
              <a:t>Minh họa chi tiết các đoạn mã nguồn đã tinh chỉnh trên cả Frontend và Backend</a:t>
            </a:r>
          </a:p>
        </p:txBody>
      </p:sp>
      <p:sp>
        <p:nvSpPr>
          <p:cNvPr id="4" name="Rounded Rectangle 3"/>
          <p:cNvSpPr/>
          <p:nvPr/>
        </p:nvSpPr>
        <p:spPr>
          <a:xfrm>
            <a:off x="914400" y="1645920"/>
            <a:ext cx="5029200" cy="475488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 FRONTEND: GoogleSignIn.jsx</a:t>
            </a:r>
          </a:p>
          <a:p>
            <a:pPr>
              <a:spcBef>
                <a:spcPts val="800"/>
              </a:spcBef>
              <a:defRPr sz="1100">
                <a:solidFill>
                  <a:srgbClr val="E2E8F0"/>
                </a:solidFill>
                <a:latin typeface="Consolas"/>
              </a:defRPr>
            </a:pPr>
            <a:r>
              <a:t>// ❌ TRƯỚC: Chỉ lấy Token nội bộ Firebase</a:t>
            </a:r>
            <a:br/>
            <a:r>
              <a:t>const result = await signInWithPopup(auth, provider);</a:t>
            </a:r>
            <a:br/>
            <a:r>
              <a:t>const fbToken = await result.user.getIdToken();</a:t>
            </a:r>
            <a:br/>
            <a:r>
              <a:t>navigate('/dashboard');</a:t>
            </a:r>
            <a:br/>
            <a:br/>
            <a:r>
              <a:t>// ✅ SAU: Trích xuất thêm Google ID Token thật</a:t>
            </a:r>
            <a:br/>
            <a:r>
              <a:t>const result = await signInWithPopup(auth, provider);</a:t>
            </a:r>
            <a:br/>
            <a:r>
              <a:t>const cred = GoogleAuthProvider</a:t>
            </a:r>
            <a:br/>
            <a:r>
              <a:t>                .credentialFromResult(result);</a:t>
            </a:r>
            <a:br/>
            <a:r>
              <a:t>if (cred?.idToken) {</a:t>
            </a:r>
            <a:br/>
            <a:r>
              <a:t>  // Gửi sang Quân qua endpoint mới (chạy ngầm)</a:t>
            </a:r>
            <a:br/>
            <a:r>
              <a:t>  syncToOAuth2Backend(cred.idToken);</a:t>
            </a:r>
            <a:br/>
            <a:r>
              <a:t>}</a:t>
            </a:r>
            <a:br/>
            <a:r>
              <a:t>navigate('/dashboard');</a:t>
            </a:r>
          </a:p>
        </p:txBody>
      </p:sp>
      <p:sp>
        <p:nvSpPr>
          <p:cNvPr id="5" name="Rounded Rectangle 4"/>
          <p:cNvSpPr/>
          <p:nvPr/>
        </p:nvSpPr>
        <p:spPr>
          <a:xfrm>
            <a:off x="6217920" y="1645920"/>
            <a:ext cx="5029200" cy="4754880"/>
          </a:xfrm>
          <a:prstGeom prst="round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ADE80"/>
                </a:solidFill>
              </a:defRPr>
            </a:pPr>
            <a:r>
              <a:t>⚙️ BACKEND QUÂN: AuthController &amp; AuthService</a:t>
            </a:r>
          </a:p>
          <a:p>
            <a:pPr>
              <a:spcBef>
                <a:spcPts val="800"/>
              </a:spcBef>
              <a:defRPr sz="1100">
                <a:solidFill>
                  <a:srgbClr val="E2E8F0"/>
                </a:solidFill>
                <a:latin typeface="Consolas"/>
              </a:defRPr>
            </a:pPr>
            <a:r>
              <a:t>// ❌ TRƯỚC: Chỉ nhận code qua Callback URL</a:t>
            </a:r>
            <a:br/>
            <a:r>
              <a:t>@GetMapping("/google/callback")</a:t>
            </a:r>
            <a:br/>
            <a:r>
              <a:t>public void callback(@RequestParam("code") String code) {</a:t>
            </a:r>
            <a:br/>
            <a:r>
              <a:t>  // Bắt buộc phải có code đổi từ Google redirect</a:t>
            </a:r>
            <a:br/>
            <a:r>
              <a:t>}</a:t>
            </a:r>
            <a:br/>
            <a:br/>
            <a:r>
              <a:t>// ✅ SAU: Mở API nhận Token &amp; verify Google JWKS</a:t>
            </a:r>
            <a:br/>
            <a:r>
              <a:t>@PostMapping("/google/firebase-token")</a:t>
            </a:r>
            <a:br/>
            <a:r>
              <a:t>public ResponseEntity&lt;?&gt; login(@RequestBody Map body) {</a:t>
            </a:r>
            <a:br/>
            <a:r>
              <a:t>  String idToken = body.get("idToken");</a:t>
            </a:r>
            <a:br/>
            <a:r>
              <a:t>  // 1. Verify chữ ký RS256 bằng GoogleIdTokenVerifier</a:t>
            </a:r>
            <a:br/>
            <a:r>
              <a:t>  GoogleIdToken token = verifier.verify(idToken);</a:t>
            </a:r>
            <a:br/>
            <a:r>
              <a:t>  // 2. Tự động lưu DB &amp; cấp JWT riêng (HMAC-384)</a:t>
            </a:r>
            <a:br/>
            <a:r>
              <a:t>  return processGoogleUserInfo(token.getPayload());</a:t>
            </a:r>
            <a:b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